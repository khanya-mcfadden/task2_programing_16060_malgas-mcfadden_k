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67" r:id="rId4"/>
    <p:sldId id="257" r:id="rId5"/>
    <p:sldId id="258" r:id="rId6"/>
    <p:sldId id="264" r:id="rId7"/>
    <p:sldId id="266" r:id="rId8"/>
    <p:sldId id="259" r:id="rId9"/>
    <p:sldId id="260" r:id="rId10"/>
    <p:sldId id="261" r:id="rId11"/>
    <p:sldId id="269" r:id="rId12"/>
    <p:sldId id="268" r:id="rId13"/>
    <p:sldId id="262" r:id="rId14"/>
    <p:sldId id="263" r:id="rId15"/>
    <p:sldId id="270" r:id="rId16"/>
    <p:sldId id="271" r:id="rId17"/>
    <p:sldId id="272" r:id="rId18"/>
    <p:sldId id="283" r:id="rId19"/>
    <p:sldId id="28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6140B80-A74D-4F8C-97FF-4E0C4BC8DE4A}">
          <p14:sldIdLst>
            <p14:sldId id="256"/>
          </p14:sldIdLst>
        </p14:section>
        <p14:section name="website use" id="{9327A0C2-9709-4946-ACF3-CC65825D556C}">
          <p14:sldIdLst>
            <p14:sldId id="273"/>
          </p14:sldIdLst>
        </p14:section>
        <p14:section name="coding" id="{5772E863-368A-4ED6-92FD-789D5DA21F15}">
          <p14:sldIdLst>
            <p14:sldId id="267"/>
            <p14:sldId id="257"/>
            <p14:sldId id="258"/>
            <p14:sldId id="264"/>
            <p14:sldId id="266"/>
            <p14:sldId id="259"/>
            <p14:sldId id="260"/>
            <p14:sldId id="261"/>
            <p14:sldId id="269"/>
            <p14:sldId id="268"/>
            <p14:sldId id="262"/>
            <p14:sldId id="263"/>
            <p14:sldId id="270"/>
            <p14:sldId id="271"/>
            <p14:sldId id="272"/>
            <p14:sldId id="283"/>
            <p14:sldId id="28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8BE4E-DC33-166C-782E-3621EEDA9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EDF77-3DDD-420A-0B25-75990016C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1021B-634F-6BC9-0048-F07AD51C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7521-403B-4B7A-853E-05F871588B1C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9E22A-644F-94B8-46E5-3CB4629EF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A89A7-BA38-C8CD-6674-38C772979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69F8-62CD-491B-B4BE-2AB8CC256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7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FF8C-B859-8E99-D17C-6580B6214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A11E8-0756-DAD5-FCA9-2F23954DD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E2A10-F769-10AE-EDA2-97968C2BD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7521-403B-4B7A-853E-05F871588B1C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B591E-F6AD-37CE-C5ED-19E605078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31F4D-EA42-321A-A82A-7A6E6151E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69F8-62CD-491B-B4BE-2AB8CC256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851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F16CB-0C9F-2564-992F-8A5280FA8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1B9E8-6D8E-296B-4734-DE7757F83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9B7F5-F9B4-4404-A73F-DB7E42318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7521-403B-4B7A-853E-05F871588B1C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2E8A2-B20E-7DE5-090D-F33F8E590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8896A-CE6D-7712-03FA-1058E70C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69F8-62CD-491B-B4BE-2AB8CC256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80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B41F8-13BF-D602-F131-FDCBC4FF7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2E36A-AA88-C83C-DA04-019132FEEC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8D2E6-68DA-2BB0-6EF8-C42E942B8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B52BFC-D821-6BE4-CBA2-7B8B4F7CF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7521-403B-4B7A-853E-05F871588B1C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DBC1D7-EABB-E7B5-981A-7293AFF39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ED207-319C-5593-957D-BB0B8DEA6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69F8-62CD-491B-B4BE-2AB8CC256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6651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47EB9-24EB-5BC1-E6F5-E7D0D8E40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9C430-96B6-E74A-6DCD-EAB0C6F56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500E4A-334B-D0E9-61CD-1137770FE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0BADC9-EF6A-F3AF-C755-B4975BF69C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59B4E1-DE80-E827-0B07-A0BE462743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386D5A-A537-E6EA-087C-870ABE6C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7521-403B-4B7A-853E-05F871588B1C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D31817-EDE9-788A-C1C4-EAE161A35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F965B6-EDC3-1A33-7A65-3C92313F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69F8-62CD-491B-B4BE-2AB8CC256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467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16EB8-D5A8-23CF-D70C-20CB29103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25D9D0-4E78-B412-98B1-63D99656E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7521-403B-4B7A-853E-05F871588B1C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1BA6D3-2199-37F5-2ABE-F044A6269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9CD9F-5B3A-965C-6FF4-4EA262FF7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69F8-62CD-491B-B4BE-2AB8CC256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37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22EE4E-5EEC-FB3A-56ED-49EC4EC1F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7521-403B-4B7A-853E-05F871588B1C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BC5568-36FC-6FCE-F35A-7834E64D3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1BA97-F8E4-AE86-37DE-1689E1FA0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69F8-62CD-491B-B4BE-2AB8CC256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011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90F7A-B2FF-B71A-C968-334E8E1BA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74D43-B071-D485-E547-CF857E9E4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25D14-75EF-258F-F8BE-A1EDECD1F8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78D70-AE94-A832-364E-01215EC95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7521-403B-4B7A-853E-05F871588B1C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BE7D8-1492-9D67-C43E-80B0A2D78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D5903-9A61-EB4B-4707-643E484CB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69F8-62CD-491B-B4BE-2AB8CC256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4497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FDF56-DE38-C982-9C7E-24F2C888A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1553B8-DB84-9F76-457E-3BBB154B0D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3B4A0-05F5-E7EC-61D3-68BE03AAE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21121-0073-3151-8935-905FBB39B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7521-403B-4B7A-853E-05F871588B1C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83AE9-990A-ADE5-8063-4421E4D88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0A212-2895-31A1-AD19-DA0E08B79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69F8-62CD-491B-B4BE-2AB8CC256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1883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C799-B508-B17F-AA08-6275332EC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B0494-E485-FDE4-17BD-A3171C5200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DE949-3A4C-019A-2D8D-8138034A4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7521-403B-4B7A-853E-05F871588B1C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F18F1-1D92-889F-FBB2-3C1F2FCF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17D05-7174-5F0E-61BA-31E4F47B8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69F8-62CD-491B-B4BE-2AB8CC256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098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D3D4C6-E162-C449-6146-7F35508B7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319E2D-8ED4-F2FB-8CC9-CB7043C6DC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A36F0-D2D0-667E-7CFF-8A21FF13C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7521-403B-4B7A-853E-05F871588B1C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09CCA-E1DE-6BB8-C924-F4117249D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C99F9-7D22-9F3B-CFC1-4EA00860F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A69F8-62CD-491B-B4BE-2AB8CC256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592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CBCD2-E8E6-ADE6-1872-CEF6D9352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A10FF-5EB3-29BF-9688-BC43E25E3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813FC-2124-ABA9-F893-12A992DBB6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E7521-403B-4B7A-853E-05F871588B1C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095C6-28F2-EC00-D8AA-90461B72C4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191FC-2B4A-9B1E-6E0C-C7148BB6B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2A69F8-62CD-491B-B4BE-2AB8CC2568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2381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mailto:test@gmail.com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DA2FE-C54F-B870-266A-C0D5A6E0D3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Task 2 annotations of the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7A0FD-E73E-3700-4C88-6A6D81FDCF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0085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13103-ED5F-3EFB-E1C9-3CE0C2F1F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BE665-C299-3E7F-88AA-69313A02B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44" y="473533"/>
            <a:ext cx="6894576" cy="778764"/>
          </a:xfrm>
        </p:spPr>
        <p:txBody>
          <a:bodyPr anchor="b">
            <a:normAutofit fontScale="90000"/>
          </a:bodyPr>
          <a:lstStyle/>
          <a:p>
            <a:r>
              <a:rPr lang="en-GB" sz="5400" dirty="0"/>
              <a:t>Website run through</a:t>
            </a:r>
          </a:p>
        </p:txBody>
      </p:sp>
    </p:spTree>
    <p:extLst>
      <p:ext uri="{BB962C8B-B14F-4D97-AF65-F5344CB8AC3E}">
        <p14:creationId xmlns:p14="http://schemas.microsoft.com/office/powerpoint/2010/main" val="1449995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1EFF67-C608-A661-E5FC-D997913114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GB" sz="6600"/>
              <a:t>Functionality</a:t>
            </a:r>
            <a:endParaRPr lang="en-GB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337BB5-8CC9-E68E-BA23-DC96A633E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endParaRPr lang="en-GB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715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9C18A6-E59B-45E5-1E6A-DB5EC373E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000" dirty="0"/>
              <a:t>Functionality- languages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01276-0890-3F4A-437A-85C3D6C51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GB" sz="2200" dirty="0"/>
              <a:t>Use of more than 1 coding language:</a:t>
            </a:r>
          </a:p>
          <a:p>
            <a:pPr lvl="1"/>
            <a:r>
              <a:rPr lang="en-GB" sz="2200" dirty="0"/>
              <a:t>Used python for the backend data handling of the systems and SQLite 3 for creation of the database </a:t>
            </a:r>
            <a:r>
              <a:rPr lang="en-GB" sz="2200" b="1" dirty="0"/>
              <a:t>(example to the right)</a:t>
            </a:r>
          </a:p>
          <a:p>
            <a:pPr lvl="1"/>
            <a:endParaRPr lang="en-GB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2218CC-AF9C-9FBD-7823-57911EFB9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53" y="917936"/>
            <a:ext cx="6548314" cy="529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785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CA0FE0-3E87-DF80-81AA-B58DD9EBE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1D0D81-BB80-A4CD-A652-EE88E71CF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GB" sz="5400"/>
              <a:t>Functionality- user accounts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126C6-6F92-F09C-57AD-DFF627A73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GB" sz="2200" dirty="0"/>
              <a:t>A functional user account creation and login system:</a:t>
            </a:r>
          </a:p>
          <a:p>
            <a:pPr lvl="1"/>
            <a:r>
              <a:rPr lang="en-GB" sz="2200" dirty="0"/>
              <a:t>Implemented a system for users to enter details into a html form that is sent to a  backend that encrypts and saves the user newly created account</a:t>
            </a:r>
          </a:p>
          <a:p>
            <a:pPr lvl="1"/>
            <a:r>
              <a:rPr lang="en-GB" sz="2200" dirty="0"/>
              <a:t>Created a system that was able to allow users to log into the accounts using python</a:t>
            </a:r>
          </a:p>
          <a:p>
            <a:pPr lvl="1"/>
            <a:r>
              <a:rPr lang="en-GB" sz="2200" dirty="0"/>
              <a:t>(code snippets on the next slide with annotation)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951334-046D-211F-5B3C-6BA8D4DCF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1847" y="329183"/>
            <a:ext cx="2598201" cy="34299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97F700-6F59-10D4-A076-F8E75B048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8611" y="4079193"/>
            <a:ext cx="2346385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818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F44F5-9149-7384-52C8-91FC27F6E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8939" y="656570"/>
            <a:ext cx="3343275" cy="5544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dirty="0"/>
              <a:t>After the user sends in their data from the front end  (on the left) the data is sent the /register function(seen on the right ) which first checks the presence and validity of the inputted data.</a:t>
            </a:r>
          </a:p>
          <a:p>
            <a:pPr marL="0" indent="0">
              <a:buNone/>
            </a:pPr>
            <a:r>
              <a:rPr lang="en-GB" sz="1600" dirty="0"/>
              <a:t> After the validation of the user's data is confirmed the user’s password is hashed by the werkzeug.security library into 220-character hash  to protect the users data, after that a connection to the database is made in which the function checks that the users </a:t>
            </a:r>
            <a:r>
              <a:rPr lang="en-GB" sz="1600" dirty="0" err="1"/>
              <a:t>inputed</a:t>
            </a:r>
            <a:r>
              <a:rPr lang="en-GB" sz="1600" dirty="0"/>
              <a:t> username and email don’t match a pre-existing one.</a:t>
            </a:r>
          </a:p>
          <a:p>
            <a:pPr marL="0" indent="0">
              <a:buNone/>
            </a:pPr>
            <a:r>
              <a:rPr lang="en-GB" sz="1600" dirty="0"/>
              <a:t>If that check is past then the users details are sent to the database, a final check makes sure that the information has been sent correctly and then the users are redirected back to the home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15EDF7-B062-892C-573A-CB7E0797F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851" y="243258"/>
            <a:ext cx="4826398" cy="63714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10C290-3283-66F4-0C7D-BED7AE04D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6979"/>
            <a:ext cx="3447051" cy="4133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0D024F-CF3D-BBCC-A5DF-246DD865675A}"/>
              </a:ext>
            </a:extLst>
          </p:cNvPr>
          <p:cNvSpPr txBox="1"/>
          <p:nvPr/>
        </p:nvSpPr>
        <p:spPr>
          <a:xfrm>
            <a:off x="285750" y="133350"/>
            <a:ext cx="3500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u="sng" dirty="0"/>
              <a:t>Registration</a:t>
            </a:r>
          </a:p>
        </p:txBody>
      </p:sp>
    </p:spTree>
    <p:extLst>
      <p:ext uri="{BB962C8B-B14F-4D97-AF65-F5344CB8AC3E}">
        <p14:creationId xmlns:p14="http://schemas.microsoft.com/office/powerpoint/2010/main" val="2334595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22FE6-A73B-DBE2-9AE3-0A40E9FF8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CAC1D-897B-FEC3-37B6-B9F5FB42E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8939" y="656570"/>
            <a:ext cx="3343275" cy="5544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dirty="0"/>
              <a:t>When the user inputs their account information in their data is sent form the front end  (on the left) to  the /login function(seen on the right ) which first checks the presence and validity of the inputted data.</a:t>
            </a:r>
          </a:p>
          <a:p>
            <a:pPr marL="0" indent="0">
              <a:buNone/>
            </a:pPr>
            <a:r>
              <a:rPr lang="en-GB" sz="1600" dirty="0"/>
              <a:t> After the validation of the user's data a connection is made to the database in which the function checks that the users inputted details match a pre-existing one in the database.</a:t>
            </a:r>
          </a:p>
          <a:p>
            <a:pPr marL="0" indent="0">
              <a:buNone/>
            </a:pPr>
            <a:r>
              <a:rPr lang="en-GB" sz="1600" dirty="0"/>
              <a:t>For debugging purposes, I had implemented a debug message that sends in the terminal that fetches the username for who just tried to login to make sure that the communication was successful.</a:t>
            </a:r>
          </a:p>
          <a:p>
            <a:pPr marL="0" indent="0">
              <a:buNone/>
            </a:pPr>
            <a:r>
              <a:rPr lang="en-GB" sz="1600" dirty="0"/>
              <a:t>Then there is a check against the data in the database against the users' inputted details, if they pass this final check the user Is redirected to their profile.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50F58C-FB20-FB9E-43D9-85D6A4798DAB}"/>
              </a:ext>
            </a:extLst>
          </p:cNvPr>
          <p:cNvSpPr txBox="1"/>
          <p:nvPr/>
        </p:nvSpPr>
        <p:spPr>
          <a:xfrm>
            <a:off x="285750" y="133350"/>
            <a:ext cx="3500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u="sng" dirty="0"/>
              <a:t>Login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210642-62A4-7BAD-2220-173080DFC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9877" y="656570"/>
            <a:ext cx="5049248" cy="50601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87AA19-FC34-6FC9-DEF8-880DEF5207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28" r="3607"/>
          <a:stretch/>
        </p:blipFill>
        <p:spPr>
          <a:xfrm>
            <a:off x="285750" y="1150165"/>
            <a:ext cx="2971800" cy="283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113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558F44-77FF-BA35-F4B8-67CB1056A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6DD5AE-8FD0-30A0-8449-55191F0B9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GB" sz="5400" dirty="0"/>
              <a:t>Functionality- organised code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EA902-C72C-662E-F56E-3D8E0DF9F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GB" dirty="0"/>
              <a:t>Neatly organised code: separated Back-end and front-end logic for clarity.(</a:t>
            </a:r>
            <a:r>
              <a:rPr lang="en-GB" b="1" dirty="0"/>
              <a:t>shown on the right)</a:t>
            </a:r>
          </a:p>
          <a:p>
            <a:endParaRPr lang="en-GB" sz="2200" b="1" dirty="0"/>
          </a:p>
          <a:p>
            <a:pPr marL="0" indent="0">
              <a:buNone/>
            </a:pPr>
            <a:endParaRPr lang="en-GB" sz="2200" dirty="0"/>
          </a:p>
          <a:p>
            <a:pPr lvl="1"/>
            <a:endParaRPr lang="en-GB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DE4DA1-AA8F-4923-6EC7-53CFB3C9E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93321"/>
            <a:ext cx="4014216" cy="33016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50DB3F-AD9D-F8F6-2A48-5D11AFF81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373139"/>
            <a:ext cx="3995928" cy="158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054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1DD22C-ABB5-28E6-66AA-D9FB7BBA0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841E5B-52FA-E506-F325-CC3C660C9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GB" sz="5400"/>
              <a:t>Functionality- Comprehensive APIs</a:t>
            </a:r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ADE50-96FC-02E2-9EB9-232B259EA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GB" sz="2200" dirty="0"/>
              <a:t>Gemini chatbot Api:</a:t>
            </a:r>
          </a:p>
          <a:p>
            <a:pPr lvl="1"/>
            <a:r>
              <a:rPr lang="en-GB" sz="2200" dirty="0"/>
              <a:t>Used googles Gemini chatbot to answer any questions that a user may have on eco –friendly practices or information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C625DD-1F71-3E6C-58ED-F0A07ACCA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164" y="1002283"/>
            <a:ext cx="4414644" cy="5659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4B977D-7CD9-42F8-8E0C-0FBAA1E1C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84" y="4245356"/>
            <a:ext cx="7204236" cy="253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953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6ACBA3-B6DC-7DF9-CE5D-6965B042F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45F6A2-F08A-F84A-AE14-B4796F761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4200"/>
              <a:t>Functionality- Interconnected modules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39873-CF5A-F4A1-9F3D-DF439A4F1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GB" sz="3600" dirty="0"/>
              <a:t>Validation of inputs:</a:t>
            </a:r>
          </a:p>
          <a:p>
            <a:pPr lvl="1"/>
            <a:r>
              <a:rPr lang="en-GB" sz="3600" b="1" dirty="0"/>
              <a:t>inputs on all pages is validated on both the front and backend to make sure that data is inputted correctly</a:t>
            </a:r>
          </a:p>
          <a:p>
            <a:pPr lvl="1"/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2491686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A32D09-B8FF-5B44-B71A-DEC9325A5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5CC1D-C877-67DF-5908-BDFB3F871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4200" dirty="0"/>
              <a:t>Functionality- Interconnected modules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DDE68-935D-EDDC-CF20-803E4FFAE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GB" sz="3200" dirty="0"/>
              <a:t>Normalised data : the Database are separated by their needs ( users and bookings,) to avoid data redundancy and make readability better.</a:t>
            </a:r>
          </a:p>
        </p:txBody>
      </p:sp>
    </p:spTree>
    <p:extLst>
      <p:ext uri="{BB962C8B-B14F-4D97-AF65-F5344CB8AC3E}">
        <p14:creationId xmlns:p14="http://schemas.microsoft.com/office/powerpoint/2010/main" val="3215586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9C3DA7-56A6-ED09-D433-422D77726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585040-84C7-66FB-73AA-69F64A2C8A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GB" sz="6600" dirty="0"/>
              <a:t>Code Organisation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320213-1AC4-AAC0-087E-4BF97A0F4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endParaRPr lang="en-GB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65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D225C8-4068-34D4-85F3-744602543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2C5014-6857-2E50-A46C-43E69FDD8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4600"/>
              <a:t>Clear indentation and structure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94B16-BEDD-A158-FD9E-54094CD6D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GB" sz="2200" dirty="0"/>
              <a:t>Consistent use of indentation across all files for functions</a:t>
            </a:r>
          </a:p>
          <a:p>
            <a:pPr lvl="1"/>
            <a:endParaRPr lang="en-GB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13813C-05C5-9F2E-7597-0BCF1838E3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778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67283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5308C6-4F04-7B80-7ED2-78CAAAB41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AD8EB0-F68D-947D-DE81-E57F3F8DE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44" y="256032"/>
            <a:ext cx="6894576" cy="1783080"/>
          </a:xfrm>
        </p:spPr>
        <p:txBody>
          <a:bodyPr anchor="b">
            <a:noAutofit/>
          </a:bodyPr>
          <a:lstStyle/>
          <a:p>
            <a:r>
              <a:rPr lang="en-GB" dirty="0"/>
              <a:t>Efficient use of variables/constants and </a:t>
            </a:r>
            <a:br>
              <a:rPr lang="en-GB" dirty="0"/>
            </a:br>
            <a:r>
              <a:rPr lang="en-GB" dirty="0"/>
              <a:t>functions/classes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F0C85-3463-7FB3-0D16-971833E46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4554220" cy="3483864"/>
          </a:xfrm>
        </p:spPr>
        <p:txBody>
          <a:bodyPr>
            <a:normAutofit/>
          </a:bodyPr>
          <a:lstStyle/>
          <a:p>
            <a:r>
              <a:rPr lang="en-GB" sz="2200" dirty="0"/>
              <a:t>Each core feature is organised and named into a individual class and whether they are functional or nonfunctional </a:t>
            </a:r>
            <a:r>
              <a:rPr lang="en-GB" sz="2200" b="1" dirty="0"/>
              <a:t>( example on the right) </a:t>
            </a:r>
            <a:r>
              <a:rPr lang="en-GB" sz="2200" dirty="0"/>
              <a:t>and kept the use of global variables to a minimum and of information that doesn’t pose a high security risk.</a:t>
            </a:r>
            <a:endParaRPr lang="en-GB" sz="22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D598A3-2833-3039-E5F6-90293EC39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456" y="329184"/>
            <a:ext cx="5617600" cy="26683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26F64F-DE88-8CD7-2455-623D89B802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618"/>
          <a:stretch/>
        </p:blipFill>
        <p:spPr>
          <a:xfrm>
            <a:off x="6260456" y="3326726"/>
            <a:ext cx="5571116" cy="266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668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0B866-D26D-4B9C-B89B-5A9F87395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00C6A7-E6F3-D48D-F512-75F1E59BE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GB" sz="5400" dirty="0"/>
              <a:t>Organisation-  comments</a:t>
            </a: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57D17-F7D2-0556-B6CB-C9E34FDA2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2932707" cy="4119172"/>
          </a:xfrm>
        </p:spPr>
        <p:txBody>
          <a:bodyPr anchor="t">
            <a:normAutofit/>
          </a:bodyPr>
          <a:lstStyle/>
          <a:p>
            <a:r>
              <a:rPr lang="en-GB" sz="2200" dirty="0"/>
              <a:t>All the code is documented with comments for  functions and includes any docstring and inline comments where needed to further explain.</a:t>
            </a:r>
            <a:endParaRPr lang="en-GB" sz="2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64495-E2D3-4949-8BD4-1096570D27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35" r="51970" b="-1"/>
          <a:stretch/>
        </p:blipFill>
        <p:spPr>
          <a:xfrm>
            <a:off x="5638800" y="1970118"/>
            <a:ext cx="5977922" cy="422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040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1827F6-C7C6-9E80-0B2D-38DD7A099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415666-AE1A-0A49-391A-D80D03255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36" y="12700"/>
            <a:ext cx="5084064" cy="2358592"/>
          </a:xfrm>
        </p:spPr>
        <p:txBody>
          <a:bodyPr anchor="b">
            <a:noAutofit/>
          </a:bodyPr>
          <a:lstStyle/>
          <a:p>
            <a:r>
              <a:rPr lang="en-GB" dirty="0"/>
              <a:t>Recursive algorithms with stopping </a:t>
            </a:r>
            <a:br>
              <a:rPr lang="en-GB" dirty="0"/>
            </a:br>
            <a:r>
              <a:rPr lang="en-GB" dirty="0"/>
              <a:t>conditions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84D3D-F70D-2B28-46C0-7615F9BE4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GB" sz="2200" dirty="0"/>
              <a:t>Systems that need to be kept </a:t>
            </a:r>
            <a:r>
              <a:rPr lang="en-GB" sz="2200" dirty="0" err="1"/>
              <a:t>uptodat</a:t>
            </a:r>
            <a:r>
              <a:rPr lang="en-GB" sz="2200" dirty="0"/>
              <a:t> will only check for changes once a user interacts sopping constant checks </a:t>
            </a:r>
            <a:endParaRPr lang="en-GB" sz="2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9DE87B-9364-8639-9B24-4941C9166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336" y="640080"/>
            <a:ext cx="650477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379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7CCAEF-0318-E731-A3DB-3F2CB8D47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32FC79-8D0C-B66B-73AA-6B2C0D886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3800"/>
              <a:t>Organisation of files placment and naming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6A551-8306-8A11-488C-C961A3606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GB" sz="2200" dirty="0"/>
              <a:t>Each core feature is organised and named into a individual class and whether they are functional or nonfunctional </a:t>
            </a:r>
            <a:r>
              <a:rPr lang="en-GB" sz="2200" b="1" dirty="0"/>
              <a:t>( example on the right)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CCF3D5-6E2E-E6A2-3EEE-A0A7541A1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496" y="0"/>
            <a:ext cx="40552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641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CD6E25-99BB-4D11-6B2B-68E0563BF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421C92-D816-4BE1-FE0C-FA6EB3D68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dirty="0"/>
              <a:t>Testing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B2E5364-0835-DC8A-8D08-C94E89D22B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9371283"/>
              </p:ext>
            </p:extLst>
          </p:nvPr>
        </p:nvGraphicFramePr>
        <p:xfrm>
          <a:off x="101600" y="1901888"/>
          <a:ext cx="11950700" cy="506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6095">
                  <a:extLst>
                    <a:ext uri="{9D8B030D-6E8A-4147-A177-3AD203B41FA5}">
                      <a16:colId xmlns:a16="http://schemas.microsoft.com/office/drawing/2014/main" val="1709409343"/>
                    </a:ext>
                  </a:extLst>
                </a:gridCol>
                <a:gridCol w="8954605">
                  <a:extLst>
                    <a:ext uri="{9D8B030D-6E8A-4147-A177-3AD203B41FA5}">
                      <a16:colId xmlns:a16="http://schemas.microsoft.com/office/drawing/2014/main" val="3969891905"/>
                    </a:ext>
                  </a:extLst>
                </a:gridCol>
              </a:tblGrid>
              <a:tr h="343355">
                <a:tc>
                  <a:txBody>
                    <a:bodyPr/>
                    <a:lstStyle/>
                    <a:p>
                      <a:r>
                        <a:rPr lang="en-GB" sz="1300" b="0">
                          <a:latin typeface="+mn-lt"/>
                        </a:rPr>
                        <a:t>Criteria</a:t>
                      </a:r>
                    </a:p>
                  </a:txBody>
                  <a:tcPr marL="45141" marR="45141" marT="22571" marB="22571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0">
                          <a:latin typeface="+mn-lt"/>
                        </a:rPr>
                        <a:t>How its been met</a:t>
                      </a:r>
                    </a:p>
                  </a:txBody>
                  <a:tcPr marL="45141" marR="45141" marT="22571" marB="22571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46403"/>
                  </a:ext>
                </a:extLst>
              </a:tr>
              <a:tr h="343355">
                <a:tc>
                  <a:txBody>
                    <a:bodyPr/>
                    <a:lstStyle/>
                    <a:p>
                      <a:r>
                        <a:rPr lang="en-GB" sz="1300" b="0">
                          <a:latin typeface="+mn-lt"/>
                        </a:rPr>
                        <a:t>Normal data</a:t>
                      </a:r>
                    </a:p>
                  </a:txBody>
                  <a:tcPr marL="45141" marR="45141" marT="22571" marB="22571"/>
                </a:tc>
                <a:tc>
                  <a:txBody>
                    <a:bodyPr/>
                    <a:lstStyle/>
                    <a:p>
                      <a:r>
                        <a:rPr lang="en-GB" sz="1300" b="0" dirty="0">
                          <a:latin typeface="+mn-lt"/>
                        </a:rPr>
                        <a:t>Tested all the forms with realistic inputs (</a:t>
                      </a:r>
                      <a:r>
                        <a:rPr lang="en-GB" sz="1300" b="0" dirty="0" err="1">
                          <a:latin typeface="+mn-lt"/>
                        </a:rPr>
                        <a:t>e.g</a:t>
                      </a:r>
                      <a:r>
                        <a:rPr lang="en-GB" sz="1300" b="0" dirty="0">
                          <a:latin typeface="+mn-lt"/>
                        </a:rPr>
                        <a:t> booking inputs : </a:t>
                      </a:r>
                      <a:r>
                        <a:rPr lang="sv-SE" sz="1300" b="0" dirty="0">
                          <a:latin typeface="+mn-lt"/>
                        </a:rPr>
                        <a:t>29/03/2025 10:35, ben, smith, </a:t>
                      </a:r>
                      <a:r>
                        <a:rPr lang="sv-SE" sz="1300" b="0" dirty="0">
                          <a:latin typeface="+mn-lt"/>
                          <a:hlinkClick r:id="rId2"/>
                        </a:rPr>
                        <a:t>test@gmail.com</a:t>
                      </a:r>
                      <a:r>
                        <a:rPr lang="sv-SE" sz="1300" b="0" dirty="0">
                          <a:latin typeface="+mn-lt"/>
                        </a:rPr>
                        <a:t> 11778,123, .hello , tick box )</a:t>
                      </a:r>
                    </a:p>
                    <a:p>
                      <a:endParaRPr lang="en-GB" sz="1300" b="0" dirty="0">
                        <a:latin typeface="+mn-lt"/>
                      </a:endParaRPr>
                    </a:p>
                  </a:txBody>
                  <a:tcPr marL="45141" marR="45141" marT="22571" marB="22571"/>
                </a:tc>
                <a:extLst>
                  <a:ext uri="{0D108BD9-81ED-4DB2-BD59-A6C34878D82A}">
                    <a16:rowId xmlns:a16="http://schemas.microsoft.com/office/drawing/2014/main" val="1131751658"/>
                  </a:ext>
                </a:extLst>
              </a:tr>
              <a:tr h="343355">
                <a:tc>
                  <a:txBody>
                    <a:bodyPr/>
                    <a:lstStyle/>
                    <a:p>
                      <a:r>
                        <a:rPr lang="en-GB" sz="1300" b="0">
                          <a:latin typeface="+mn-lt"/>
                        </a:rPr>
                        <a:t>Erroneous data</a:t>
                      </a:r>
                    </a:p>
                  </a:txBody>
                  <a:tcPr marL="45141" marR="45141" marT="22571" marB="22571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Tested all forms with empty  inputs, incorrect formats, and HTML injections to ensure security. </a:t>
                      </a:r>
                      <a:endParaRPr lang="en-GB" sz="1300" b="0" dirty="0">
                        <a:latin typeface="+mn-lt"/>
                      </a:endParaRPr>
                    </a:p>
                  </a:txBody>
                  <a:tcPr marL="45141" marR="45141" marT="22571" marB="22571"/>
                </a:tc>
                <a:extLst>
                  <a:ext uri="{0D108BD9-81ED-4DB2-BD59-A6C34878D82A}">
                    <a16:rowId xmlns:a16="http://schemas.microsoft.com/office/drawing/2014/main" val="620356405"/>
                  </a:ext>
                </a:extLst>
              </a:tr>
              <a:tr h="343355">
                <a:tc>
                  <a:txBody>
                    <a:bodyPr/>
                    <a:lstStyle/>
                    <a:p>
                      <a:r>
                        <a:rPr lang="en-GB" sz="1300" b="0">
                          <a:latin typeface="+mn-lt"/>
                        </a:rPr>
                        <a:t>Extreme data</a:t>
                      </a:r>
                    </a:p>
                  </a:txBody>
                  <a:tcPr marL="45141" marR="45141" marT="22571" marB="22571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Used edge cases like year 9999 and number or installations 11 to test robustness</a:t>
                      </a:r>
                      <a:endParaRPr lang="en-GB" sz="1300" b="0" dirty="0">
                        <a:latin typeface="+mn-lt"/>
                      </a:endParaRPr>
                    </a:p>
                  </a:txBody>
                  <a:tcPr marL="45141" marR="45141" marT="22571" marB="22571"/>
                </a:tc>
                <a:extLst>
                  <a:ext uri="{0D108BD9-81ED-4DB2-BD59-A6C34878D82A}">
                    <a16:rowId xmlns:a16="http://schemas.microsoft.com/office/drawing/2014/main" val="3827928397"/>
                  </a:ext>
                </a:extLst>
              </a:tr>
              <a:tr h="343355">
                <a:tc gridSpan="2">
                  <a:txBody>
                    <a:bodyPr/>
                    <a:lstStyle/>
                    <a:p>
                      <a:pPr algn="ctr"/>
                      <a:r>
                        <a:rPr lang="en-GB" sz="1300" b="0">
                          <a:solidFill>
                            <a:schemeClr val="bg1"/>
                          </a:solidFill>
                          <a:latin typeface="+mn-lt"/>
                        </a:rPr>
                        <a:t>Use of Testing to Inform Iterative Development</a:t>
                      </a:r>
                    </a:p>
                  </a:txBody>
                  <a:tcPr marL="45141" marR="45141" marT="22571" marB="22571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857271"/>
                  </a:ext>
                </a:extLst>
              </a:tr>
              <a:tr h="343355">
                <a:tc>
                  <a:txBody>
                    <a:bodyPr/>
                    <a:lstStyle/>
                    <a:p>
                      <a:r>
                        <a:rPr lang="en-GB" sz="1300" b="0">
                          <a:latin typeface="+mn-lt"/>
                        </a:rPr>
                        <a:t>Testing of inputs</a:t>
                      </a:r>
                    </a:p>
                  </a:txBody>
                  <a:tcPr marL="45141" marR="45141" marT="22571" marB="22571"/>
                </a:tc>
                <a:tc>
                  <a:txBody>
                    <a:bodyPr/>
                    <a:lstStyle/>
                    <a:p>
                      <a:r>
                        <a:rPr lang="en-GB" sz="1300" b="0">
                          <a:latin typeface="+mn-lt"/>
                        </a:rPr>
                        <a:t>Did testing of form field validations on desktop and mobile to confirm consistency across platforms</a:t>
                      </a:r>
                    </a:p>
                  </a:txBody>
                  <a:tcPr marL="45141" marR="45141" marT="22571" marB="22571"/>
                </a:tc>
                <a:extLst>
                  <a:ext uri="{0D108BD9-81ED-4DB2-BD59-A6C34878D82A}">
                    <a16:rowId xmlns:a16="http://schemas.microsoft.com/office/drawing/2014/main" val="2257945173"/>
                  </a:ext>
                </a:extLst>
              </a:tr>
              <a:tr h="343355">
                <a:tc>
                  <a:txBody>
                    <a:bodyPr/>
                    <a:lstStyle/>
                    <a:p>
                      <a:r>
                        <a:rPr lang="en-GB" sz="1300" b="0">
                          <a:latin typeface="+mn-lt"/>
                        </a:rPr>
                        <a:t>Testing of calculations</a:t>
                      </a:r>
                    </a:p>
                  </a:txBody>
                  <a:tcPr marL="45141" marR="45141" marT="22571" marB="22571"/>
                </a:tc>
                <a:tc>
                  <a:txBody>
                    <a:bodyPr/>
                    <a:lstStyle/>
                    <a:p>
                      <a:r>
                        <a:rPr lang="en-GB" sz="1300" b="0">
                          <a:latin typeface="+mn-lt"/>
                        </a:rPr>
                        <a:t>Cross-checked calculation outputs against manual calculations to ensure accuracy of information</a:t>
                      </a:r>
                    </a:p>
                  </a:txBody>
                  <a:tcPr marL="45141" marR="45141" marT="22571" marB="22571"/>
                </a:tc>
                <a:extLst>
                  <a:ext uri="{0D108BD9-81ED-4DB2-BD59-A6C34878D82A}">
                    <a16:rowId xmlns:a16="http://schemas.microsoft.com/office/drawing/2014/main" val="3040173336"/>
                  </a:ext>
                </a:extLst>
              </a:tr>
              <a:tr h="343355">
                <a:tc>
                  <a:txBody>
                    <a:bodyPr/>
                    <a:lstStyle/>
                    <a:p>
                      <a:r>
                        <a:rPr lang="en-GB" sz="1300" b="0">
                          <a:latin typeface="+mn-lt"/>
                        </a:rPr>
                        <a:t>Testing of validation</a:t>
                      </a:r>
                    </a:p>
                  </a:txBody>
                  <a:tcPr marL="45141" marR="45141" marT="22571" marB="22571"/>
                </a:tc>
                <a:tc>
                  <a:txBody>
                    <a:bodyPr/>
                    <a:lstStyle/>
                    <a:p>
                      <a:r>
                        <a:rPr lang="en-GB" sz="1300" b="0">
                          <a:latin typeface="+mn-lt"/>
                        </a:rPr>
                        <a:t>Ensured fields rejected malformed or malicious input</a:t>
                      </a:r>
                    </a:p>
                  </a:txBody>
                  <a:tcPr marL="45141" marR="45141" marT="22571" marB="22571"/>
                </a:tc>
                <a:extLst>
                  <a:ext uri="{0D108BD9-81ED-4DB2-BD59-A6C34878D82A}">
                    <a16:rowId xmlns:a16="http://schemas.microsoft.com/office/drawing/2014/main" val="4135122765"/>
                  </a:ext>
                </a:extLst>
              </a:tr>
              <a:tr h="595023">
                <a:tc>
                  <a:txBody>
                    <a:bodyPr/>
                    <a:lstStyle/>
                    <a:p>
                      <a:r>
                        <a:rPr lang="en-GB" sz="1300" b="0">
                          <a:latin typeface="+mn-lt"/>
                        </a:rPr>
                        <a:t>Testing of processes </a:t>
                      </a:r>
                    </a:p>
                  </a:txBody>
                  <a:tcPr marL="45141" marR="45141" marT="22571" marB="22571"/>
                </a:tc>
                <a:tc>
                  <a:txBody>
                    <a:bodyPr/>
                    <a:lstStyle/>
                    <a:p>
                      <a:r>
                        <a:rPr lang="en-GB" sz="1300" b="0">
                          <a:latin typeface="+mn-lt"/>
                        </a:rPr>
                        <a:t>Tested logging in, submitting the various forms, viewed the information pages and  logged out repeatedly to ensure stability.</a:t>
                      </a:r>
                    </a:p>
                  </a:txBody>
                  <a:tcPr marL="45141" marR="45141" marT="22571" marB="22571"/>
                </a:tc>
                <a:extLst>
                  <a:ext uri="{0D108BD9-81ED-4DB2-BD59-A6C34878D82A}">
                    <a16:rowId xmlns:a16="http://schemas.microsoft.com/office/drawing/2014/main" val="25382453"/>
                  </a:ext>
                </a:extLst>
              </a:tr>
              <a:tr h="343355">
                <a:tc gridSpan="2">
                  <a:txBody>
                    <a:bodyPr/>
                    <a:lstStyle/>
                    <a:p>
                      <a:pPr algn="ctr"/>
                      <a:r>
                        <a:rPr lang="en-GB" sz="1300" b="0">
                          <a:solidFill>
                            <a:schemeClr val="bg1"/>
                          </a:solidFill>
                          <a:latin typeface="+mn-lt"/>
                        </a:rPr>
                        <a:t>Quality of Iterative Development Process</a:t>
                      </a:r>
                    </a:p>
                  </a:txBody>
                  <a:tcPr marL="45141" marR="45141" marT="22571" marB="22571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800" b="0" dirty="0">
                        <a:latin typeface="+mn-lt"/>
                      </a:endParaRPr>
                    </a:p>
                  </a:txBody>
                  <a:tcPr marL="63359" marR="63359" marT="31680" marB="31680"/>
                </a:tc>
                <a:extLst>
                  <a:ext uri="{0D108BD9-81ED-4DB2-BD59-A6C34878D82A}">
                    <a16:rowId xmlns:a16="http://schemas.microsoft.com/office/drawing/2014/main" val="2436678222"/>
                  </a:ext>
                </a:extLst>
              </a:tr>
              <a:tr h="343355">
                <a:tc>
                  <a:txBody>
                    <a:bodyPr/>
                    <a:lstStyle/>
                    <a:p>
                      <a:r>
                        <a:rPr lang="en-GB" sz="1300" b="0">
                          <a:latin typeface="+mn-lt"/>
                        </a:rPr>
                        <a:t>Records of changes</a:t>
                      </a:r>
                    </a:p>
                  </a:txBody>
                  <a:tcPr marL="45141" marR="45141" marT="22571" marB="22571"/>
                </a:tc>
                <a:tc>
                  <a:txBody>
                    <a:bodyPr/>
                    <a:lstStyle/>
                    <a:p>
                      <a:r>
                        <a:rPr lang="en-GB" sz="1300" b="0">
                          <a:latin typeface="+mn-lt"/>
                        </a:rPr>
                        <a:t>Documentation  of each stage of the prototype's updates in a version log with reasons and dates</a:t>
                      </a:r>
                    </a:p>
                  </a:txBody>
                  <a:tcPr marL="45141" marR="45141" marT="22571" marB="22571"/>
                </a:tc>
                <a:extLst>
                  <a:ext uri="{0D108BD9-81ED-4DB2-BD59-A6C34878D82A}">
                    <a16:rowId xmlns:a16="http://schemas.microsoft.com/office/drawing/2014/main" val="2956136941"/>
                  </a:ext>
                </a:extLst>
              </a:tr>
              <a:tr h="343355">
                <a:tc>
                  <a:txBody>
                    <a:bodyPr/>
                    <a:lstStyle/>
                    <a:p>
                      <a:r>
                        <a:rPr lang="en-GB" sz="1300"/>
                        <a:t>Versioning method used</a:t>
                      </a:r>
                      <a:endParaRPr lang="en-GB" sz="1300" b="0">
                        <a:latin typeface="+mn-lt"/>
                      </a:endParaRPr>
                    </a:p>
                  </a:txBody>
                  <a:tcPr marL="45141" marR="45141" marT="22571" marB="22571"/>
                </a:tc>
                <a:tc>
                  <a:txBody>
                    <a:bodyPr/>
                    <a:lstStyle/>
                    <a:p>
                      <a:r>
                        <a:rPr lang="en-GB" sz="1300"/>
                        <a:t>Used Git with commit messages and tags for each major change to the prototype</a:t>
                      </a:r>
                      <a:endParaRPr lang="en-GB" sz="1300" b="0">
                        <a:latin typeface="+mn-lt"/>
                      </a:endParaRPr>
                    </a:p>
                  </a:txBody>
                  <a:tcPr marL="45141" marR="45141" marT="22571" marB="22571"/>
                </a:tc>
                <a:extLst>
                  <a:ext uri="{0D108BD9-81ED-4DB2-BD59-A6C34878D82A}">
                    <a16:rowId xmlns:a16="http://schemas.microsoft.com/office/drawing/2014/main" val="1237397346"/>
                  </a:ext>
                </a:extLst>
              </a:tr>
              <a:tr h="393688">
                <a:tc>
                  <a:txBody>
                    <a:bodyPr/>
                    <a:lstStyle/>
                    <a:p>
                      <a:endParaRPr lang="en-GB" sz="1300" b="0" dirty="0">
                        <a:latin typeface="+mn-lt"/>
                      </a:endParaRPr>
                    </a:p>
                  </a:txBody>
                  <a:tcPr marL="45141" marR="45141" marT="22571" marB="22571"/>
                </a:tc>
                <a:tc>
                  <a:txBody>
                    <a:bodyPr/>
                    <a:lstStyle/>
                    <a:p>
                      <a:endParaRPr lang="en-GB" sz="1300" b="0" dirty="0">
                        <a:latin typeface="+mn-lt"/>
                      </a:endParaRPr>
                    </a:p>
                  </a:txBody>
                  <a:tcPr marL="45141" marR="45141" marT="22571" marB="22571"/>
                </a:tc>
                <a:extLst>
                  <a:ext uri="{0D108BD9-81ED-4DB2-BD59-A6C34878D82A}">
                    <a16:rowId xmlns:a16="http://schemas.microsoft.com/office/drawing/2014/main" val="3363514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345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A5A0C-163A-3C0F-C152-D55880F90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Legal and Regulatory Guidelines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580CF0-A484-AAEC-D1EC-619D5F739A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5462414"/>
              </p:ext>
            </p:extLst>
          </p:nvPr>
        </p:nvGraphicFramePr>
        <p:xfrm>
          <a:off x="254000" y="2003288"/>
          <a:ext cx="11544300" cy="4489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2150">
                  <a:extLst>
                    <a:ext uri="{9D8B030D-6E8A-4147-A177-3AD203B41FA5}">
                      <a16:colId xmlns:a16="http://schemas.microsoft.com/office/drawing/2014/main" val="1709409343"/>
                    </a:ext>
                  </a:extLst>
                </a:gridCol>
                <a:gridCol w="5772150">
                  <a:extLst>
                    <a:ext uri="{9D8B030D-6E8A-4147-A177-3AD203B41FA5}">
                      <a16:colId xmlns:a16="http://schemas.microsoft.com/office/drawing/2014/main" val="2235175451"/>
                    </a:ext>
                  </a:extLst>
                </a:gridCol>
              </a:tblGrid>
              <a:tr h="379888">
                <a:tc>
                  <a:txBody>
                    <a:bodyPr/>
                    <a:lstStyle/>
                    <a:p>
                      <a:r>
                        <a:rPr lang="en-GB" sz="1400"/>
                        <a:t>Criteria</a:t>
                      </a:r>
                    </a:p>
                  </a:txBody>
                  <a:tcPr marL="63359" marR="63359" marT="31680" marB="31680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How its been met</a:t>
                      </a:r>
                    </a:p>
                  </a:txBody>
                  <a:tcPr marL="63359" marR="63359" marT="31680" marB="31680"/>
                </a:tc>
                <a:extLst>
                  <a:ext uri="{0D108BD9-81ED-4DB2-BD59-A6C34878D82A}">
                    <a16:rowId xmlns:a16="http://schemas.microsoft.com/office/drawing/2014/main" val="408346403"/>
                  </a:ext>
                </a:extLst>
              </a:tr>
              <a:tr h="379888">
                <a:tc>
                  <a:txBody>
                    <a:bodyPr/>
                    <a:lstStyle/>
                    <a:p>
                      <a:r>
                        <a:rPr lang="en-GB" sz="1400"/>
                        <a:t>Legal compliance (e.g. GDPR)</a:t>
                      </a:r>
                    </a:p>
                  </a:txBody>
                  <a:tcPr marL="63359" marR="63359" marT="31680" marB="31680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User data is encrypted, stored securely, and users can delete their data</a:t>
                      </a:r>
                    </a:p>
                  </a:txBody>
                  <a:tcPr marL="63359" marR="63359" marT="31680" marB="31680"/>
                </a:tc>
                <a:extLst>
                  <a:ext uri="{0D108BD9-81ED-4DB2-BD59-A6C34878D82A}">
                    <a16:rowId xmlns:a16="http://schemas.microsoft.com/office/drawing/2014/main" val="1131751658"/>
                  </a:ext>
                </a:extLst>
              </a:tr>
              <a:tr h="638902">
                <a:tc>
                  <a:txBody>
                    <a:bodyPr/>
                    <a:lstStyle/>
                    <a:p>
                      <a:r>
                        <a:rPr lang="en-GB" sz="1400"/>
                        <a:t>Ethical considerations</a:t>
                      </a:r>
                    </a:p>
                  </a:txBody>
                  <a:tcPr marL="63359" marR="63359" marT="31680" marB="31680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Only the essential data is collected about the user and users have to opt in to allow for data collection</a:t>
                      </a:r>
                    </a:p>
                  </a:txBody>
                  <a:tcPr marL="63359" marR="63359" marT="31680" marB="31680"/>
                </a:tc>
                <a:extLst>
                  <a:ext uri="{0D108BD9-81ED-4DB2-BD59-A6C34878D82A}">
                    <a16:rowId xmlns:a16="http://schemas.microsoft.com/office/drawing/2014/main" val="620356405"/>
                  </a:ext>
                </a:extLst>
              </a:tr>
              <a:tr h="379888">
                <a:tc>
                  <a:txBody>
                    <a:bodyPr/>
                    <a:lstStyle/>
                    <a:p>
                      <a:r>
                        <a:rPr lang="en-GB" sz="1400"/>
                        <a:t>Logically selected fonts and colours</a:t>
                      </a:r>
                    </a:p>
                  </a:txBody>
                  <a:tcPr marL="63359" marR="63359" marT="31680" marB="3168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Used Source Serif Pro and high contrast colours used</a:t>
                      </a:r>
                    </a:p>
                  </a:txBody>
                  <a:tcPr marL="63359" marR="63359" marT="31680" marB="31680"/>
                </a:tc>
                <a:extLst>
                  <a:ext uri="{0D108BD9-81ED-4DB2-BD59-A6C34878D82A}">
                    <a16:rowId xmlns:a16="http://schemas.microsoft.com/office/drawing/2014/main" val="3827928397"/>
                  </a:ext>
                </a:extLst>
              </a:tr>
              <a:tr h="379888">
                <a:tc>
                  <a:txBody>
                    <a:bodyPr/>
                    <a:lstStyle/>
                    <a:p>
                      <a:r>
                        <a:rPr lang="en-GB" sz="1400"/>
                        <a:t>Privacy and data policy </a:t>
                      </a:r>
                    </a:p>
                  </a:txBody>
                  <a:tcPr marL="63359" marR="63359" marT="31680" marB="31680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Dedicated privacy policy explains what data is collected and why.</a:t>
                      </a:r>
                    </a:p>
                  </a:txBody>
                  <a:tcPr marL="63359" marR="63359" marT="31680" marB="31680"/>
                </a:tc>
                <a:extLst>
                  <a:ext uri="{0D108BD9-81ED-4DB2-BD59-A6C34878D82A}">
                    <a16:rowId xmlns:a16="http://schemas.microsoft.com/office/drawing/2014/main" val="2190857271"/>
                  </a:ext>
                </a:extLst>
              </a:tr>
              <a:tr h="379888">
                <a:tc>
                  <a:txBody>
                    <a:bodyPr/>
                    <a:lstStyle/>
                    <a:p>
                      <a:r>
                        <a:rPr lang="en-GB" sz="1400" dirty="0"/>
                        <a:t>License and intellectual property</a:t>
                      </a:r>
                    </a:p>
                  </a:txBody>
                  <a:tcPr marL="63359" marR="63359" marT="31680" marB="31680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All third-party libraries used have MIT or permissive licences</a:t>
                      </a:r>
                    </a:p>
                  </a:txBody>
                  <a:tcPr marL="63359" marR="63359" marT="31680" marB="31680"/>
                </a:tc>
                <a:extLst>
                  <a:ext uri="{0D108BD9-81ED-4DB2-BD59-A6C34878D82A}">
                    <a16:rowId xmlns:a16="http://schemas.microsoft.com/office/drawing/2014/main" val="2257945173"/>
                  </a:ext>
                </a:extLst>
              </a:tr>
              <a:tr h="379888">
                <a:tc>
                  <a:txBody>
                    <a:bodyPr/>
                    <a:lstStyle/>
                    <a:p>
                      <a:r>
                        <a:rPr lang="en-GB" sz="1400"/>
                        <a:t>Terms and conditions</a:t>
                      </a:r>
                    </a:p>
                  </a:txBody>
                  <a:tcPr marL="63359" marR="63359" marT="31680" marB="31680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Custom terms and conditions written with plain English explanations.</a:t>
                      </a:r>
                    </a:p>
                  </a:txBody>
                  <a:tcPr marL="63359" marR="63359" marT="31680" marB="31680"/>
                </a:tc>
                <a:extLst>
                  <a:ext uri="{0D108BD9-81ED-4DB2-BD59-A6C34878D82A}">
                    <a16:rowId xmlns:a16="http://schemas.microsoft.com/office/drawing/2014/main" val="3040173336"/>
                  </a:ext>
                </a:extLst>
              </a:tr>
              <a:tr h="379888">
                <a:tc>
                  <a:txBody>
                    <a:bodyPr/>
                    <a:lstStyle/>
                    <a:p>
                      <a:r>
                        <a:rPr lang="en-GB" sz="1400"/>
                        <a:t>Multi-platform support </a:t>
                      </a:r>
                    </a:p>
                  </a:txBody>
                  <a:tcPr marL="63359" marR="63359" marT="31680" marB="31680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Solution scales and adapts to desktop, tablet, and mobile</a:t>
                      </a:r>
                    </a:p>
                  </a:txBody>
                  <a:tcPr marL="63359" marR="63359" marT="31680" marB="31680"/>
                </a:tc>
                <a:extLst>
                  <a:ext uri="{0D108BD9-81ED-4DB2-BD59-A6C34878D82A}">
                    <a16:rowId xmlns:a16="http://schemas.microsoft.com/office/drawing/2014/main" val="4135122765"/>
                  </a:ext>
                </a:extLst>
              </a:tr>
              <a:tr h="379888">
                <a:tc>
                  <a:txBody>
                    <a:bodyPr/>
                    <a:lstStyle/>
                    <a:p>
                      <a:r>
                        <a:rPr lang="en-GB" sz="1400"/>
                        <a:t>Non-discriminatory design</a:t>
                      </a:r>
                    </a:p>
                  </a:txBody>
                  <a:tcPr marL="63359" marR="63359" marT="31680" marB="31680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Language and visuals reflect diversity and inclusivity </a:t>
                      </a:r>
                    </a:p>
                  </a:txBody>
                  <a:tcPr marL="63359" marR="63359" marT="31680" marB="31680"/>
                </a:tc>
                <a:extLst>
                  <a:ext uri="{0D108BD9-81ED-4DB2-BD59-A6C34878D82A}">
                    <a16:rowId xmlns:a16="http://schemas.microsoft.com/office/drawing/2014/main" val="25382453"/>
                  </a:ext>
                </a:extLst>
              </a:tr>
              <a:tr h="379888">
                <a:tc>
                  <a:txBody>
                    <a:bodyPr/>
                    <a:lstStyle/>
                    <a:p>
                      <a:r>
                        <a:rPr lang="en-GB" sz="1400"/>
                        <a:t>Efficient fallback cod</a:t>
                      </a:r>
                    </a:p>
                  </a:txBody>
                  <a:tcPr marL="63359" marR="63359" marT="31680" marB="31680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Html has all the basic needs if users lack </a:t>
                      </a:r>
                      <a:r>
                        <a:rPr lang="en-GB" sz="1400" dirty="0" err="1"/>
                        <a:t>javascript</a:t>
                      </a:r>
                      <a:endParaRPr lang="en-GB" sz="1400" dirty="0"/>
                    </a:p>
                  </a:txBody>
                  <a:tcPr marL="63359" marR="63359" marT="31680" marB="31680"/>
                </a:tc>
                <a:extLst>
                  <a:ext uri="{0D108BD9-81ED-4DB2-BD59-A6C34878D82A}">
                    <a16:rowId xmlns:a16="http://schemas.microsoft.com/office/drawing/2014/main" val="2956136941"/>
                  </a:ext>
                </a:extLst>
              </a:tr>
              <a:tr h="431690"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 marL="63359" marR="63359" marT="31680" marB="31680"/>
                </a:tc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 marL="63359" marR="63359" marT="31680" marB="31680"/>
                </a:tc>
                <a:extLst>
                  <a:ext uri="{0D108BD9-81ED-4DB2-BD59-A6C34878D82A}">
                    <a16:rowId xmlns:a16="http://schemas.microsoft.com/office/drawing/2014/main" val="1237397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7058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977</Words>
  <Application>Microsoft Office PowerPoint</Application>
  <PresentationFormat>Widescreen</PresentationFormat>
  <Paragraphs>86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Task 2 annotations of the solution</vt:lpstr>
      <vt:lpstr>Website run through</vt:lpstr>
      <vt:lpstr>Functionality</vt:lpstr>
      <vt:lpstr>Functionality- languages</vt:lpstr>
      <vt:lpstr>Functionality- user accounts</vt:lpstr>
      <vt:lpstr>PowerPoint Presentation</vt:lpstr>
      <vt:lpstr>PowerPoint Presentation</vt:lpstr>
      <vt:lpstr>Functionality- organised code</vt:lpstr>
      <vt:lpstr>Functionality- Comprehensive APIs</vt:lpstr>
      <vt:lpstr>Functionality- Interconnected modules</vt:lpstr>
      <vt:lpstr>Functionality- Interconnected modules</vt:lpstr>
      <vt:lpstr>Code Organisation</vt:lpstr>
      <vt:lpstr>Clear indentation and structure</vt:lpstr>
      <vt:lpstr>Efficient use of variables/constants and  functions/classes</vt:lpstr>
      <vt:lpstr>Organisation-  comments</vt:lpstr>
      <vt:lpstr>Recursive algorithms with stopping  conditions</vt:lpstr>
      <vt:lpstr>Organisation of files placment and naming </vt:lpstr>
      <vt:lpstr>Testing</vt:lpstr>
      <vt:lpstr>Legal and Regulatory Guidelines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Khanya Malgas-Mcfadden</dc:creator>
  <cp:lastModifiedBy>Khanya Malgas-Mcfadden</cp:lastModifiedBy>
  <cp:revision>15</cp:revision>
  <dcterms:created xsi:type="dcterms:W3CDTF">2025-04-23T09:09:47Z</dcterms:created>
  <dcterms:modified xsi:type="dcterms:W3CDTF">2025-04-23T11:46:08Z</dcterms:modified>
</cp:coreProperties>
</file>